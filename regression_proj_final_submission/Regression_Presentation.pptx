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60" r:id="rId2"/>
    <p:sldId id="258" r:id="rId3"/>
    <p:sldId id="257" r:id="rId4"/>
    <p:sldId id="256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295"/>
    <p:restoredTop sz="94704"/>
  </p:normalViewPr>
  <p:slideViewPr>
    <p:cSldViewPr snapToGrid="0" snapToObjects="1">
      <p:cViewPr varScale="1">
        <p:scale>
          <a:sx n="142" d="100"/>
          <a:sy n="142" d="100"/>
        </p:scale>
        <p:origin x="520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file:////Users/nicolo/Desktop/regression_proj/data_all/data_all_years/lasso_coef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file:////Users/nicolo/Desktop/regression_proj/data_all/data_all_years/lasso_coef.xlsx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coefficients!$C$1</c:f>
              <c:strCache>
                <c:ptCount val="1"/>
                <c:pt idx="0">
                  <c:v>Coefficient</c:v>
                </c:pt>
              </c:strCache>
            </c:strRef>
          </c:tx>
          <c:spPr>
            <a:gradFill rotWithShape="1">
              <a:gsLst>
                <a:gs pos="0">
                  <a:schemeClr val="accent1">
                    <a:shade val="51000"/>
                    <a:satMod val="130000"/>
                  </a:schemeClr>
                </a:gs>
                <a:gs pos="80000">
                  <a:schemeClr val="accent1">
                    <a:shade val="93000"/>
                    <a:satMod val="130000"/>
                  </a:schemeClr>
                </a:gs>
                <a:gs pos="100000">
                  <a:schemeClr val="accent1">
                    <a:shade val="94000"/>
                    <a:satMod val="135000"/>
                  </a:schemeClr>
                </a:gs>
              </a:gsLst>
              <a:lin ang="16200000" scaled="0"/>
            </a:gradFill>
            <a:ln>
              <a:noFill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/>
            </a:sp3d>
          </c:spPr>
          <c:invertIfNegative val="0"/>
          <c:cat>
            <c:strRef>
              <c:f>coefficients!$B$2:$B$12</c:f>
              <c:strCache>
                <c:ptCount val="11"/>
                <c:pt idx="0">
                  <c:v>Budget</c:v>
                </c:pt>
                <c:pt idx="1">
                  <c:v>Theater count</c:v>
                </c:pt>
                <c:pt idx="2">
                  <c:v>Average Run</c:v>
                </c:pt>
                <c:pt idx="3">
                  <c:v>All Cast Rating</c:v>
                </c:pt>
                <c:pt idx="4">
                  <c:v>Contemporary Fiction</c:v>
                </c:pt>
                <c:pt idx="5">
                  <c:v>Dramatization</c:v>
                </c:pt>
                <c:pt idx="6">
                  <c:v>Fantasy</c:v>
                </c:pt>
                <c:pt idx="7">
                  <c:v>Historical Fiction</c:v>
                </c:pt>
                <c:pt idx="8">
                  <c:v>Kids Fiction</c:v>
                </c:pt>
                <c:pt idx="9">
                  <c:v>Science Fiction</c:v>
                </c:pt>
                <c:pt idx="10">
                  <c:v>Super Hero</c:v>
                </c:pt>
              </c:strCache>
            </c:strRef>
          </c:cat>
          <c:val>
            <c:numRef>
              <c:f>coefficients!$C$2:$C$12</c:f>
              <c:numCache>
                <c:formatCode>_("$"* #,##0_);_("$"* \(#,##0\);_("$"* "-"??_);_(@_)</c:formatCode>
                <c:ptCount val="11"/>
                <c:pt idx="0">
                  <c:v>13491235.882122001</c:v>
                </c:pt>
                <c:pt idx="1">
                  <c:v>25454549.11109088</c:v>
                </c:pt>
                <c:pt idx="2">
                  <c:v>13120006.898857331</c:v>
                </c:pt>
                <c:pt idx="3">
                  <c:v>0</c:v>
                </c:pt>
                <c:pt idx="4">
                  <c:v>0</c:v>
                </c:pt>
                <c:pt idx="5">
                  <c:v>245425.07209933281</c:v>
                </c:pt>
                <c:pt idx="6">
                  <c:v>-1011729.210924936</c:v>
                </c:pt>
                <c:pt idx="7">
                  <c:v>0</c:v>
                </c:pt>
                <c:pt idx="8">
                  <c:v>0</c:v>
                </c:pt>
                <c:pt idx="9">
                  <c:v>-3422149.334839548</c:v>
                </c:pt>
                <c:pt idx="10">
                  <c:v>8057546.0846610898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8F0-0E46-A232-CCD5932099F3}"/>
            </c:ext>
          </c:extLst>
        </c:ser>
        <c:ser>
          <c:idx val="1"/>
          <c:order val="1"/>
          <c:tx>
            <c:strRef>
              <c:f>coefficients!$D$1</c:f>
              <c:strCache>
                <c:ptCount val="1"/>
                <c:pt idx="0">
                  <c:v>Coefficient +$75M</c:v>
                </c:pt>
              </c:strCache>
            </c:strRef>
          </c:tx>
          <c:spPr>
            <a:solidFill>
              <a:schemeClr val="accent2">
                <a:lumMod val="60000"/>
                <a:lumOff val="40000"/>
              </a:schemeClr>
            </a:solidFill>
            <a:ln>
              <a:noFill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/>
            </a:sp3d>
          </c:spPr>
          <c:invertIfNegative val="0"/>
          <c:cat>
            <c:strRef>
              <c:f>coefficients!$B$2:$B$12</c:f>
              <c:strCache>
                <c:ptCount val="11"/>
                <c:pt idx="0">
                  <c:v>Budget</c:v>
                </c:pt>
                <c:pt idx="1">
                  <c:v>Theater count</c:v>
                </c:pt>
                <c:pt idx="2">
                  <c:v>Average Run</c:v>
                </c:pt>
                <c:pt idx="3">
                  <c:v>All Cast Rating</c:v>
                </c:pt>
                <c:pt idx="4">
                  <c:v>Contemporary Fiction</c:v>
                </c:pt>
                <c:pt idx="5">
                  <c:v>Dramatization</c:v>
                </c:pt>
                <c:pt idx="6">
                  <c:v>Fantasy</c:v>
                </c:pt>
                <c:pt idx="7">
                  <c:v>Historical Fiction</c:v>
                </c:pt>
                <c:pt idx="8">
                  <c:v>Kids Fiction</c:v>
                </c:pt>
                <c:pt idx="9">
                  <c:v>Science Fiction</c:v>
                </c:pt>
                <c:pt idx="10">
                  <c:v>Super Hero</c:v>
                </c:pt>
              </c:strCache>
            </c:strRef>
          </c:cat>
          <c:val>
            <c:numRef>
              <c:f>coefficients!$D$2:$D$12</c:f>
              <c:numCache>
                <c:formatCode>_("$"* #,##0_);_("$"* \(#,##0\);_("$"* "-"??_);_(@_)</c:formatCode>
                <c:ptCount val="11"/>
                <c:pt idx="0">
                  <c:v>26081999.76451369</c:v>
                </c:pt>
                <c:pt idx="1">
                  <c:v>19940637.384432439</c:v>
                </c:pt>
                <c:pt idx="2">
                  <c:v>0</c:v>
                </c:pt>
                <c:pt idx="3">
                  <c:v>25389629.321644571</c:v>
                </c:pt>
                <c:pt idx="4">
                  <c:v>-15661930.167987861</c:v>
                </c:pt>
                <c:pt idx="5">
                  <c:v>-9962447.5420588665</c:v>
                </c:pt>
                <c:pt idx="6">
                  <c:v>-27194602.517946329</c:v>
                </c:pt>
                <c:pt idx="7">
                  <c:v>-19381494.47858952</c:v>
                </c:pt>
                <c:pt idx="8">
                  <c:v>-18950270.88879744</c:v>
                </c:pt>
                <c:pt idx="9">
                  <c:v>-23453451.781680729</c:v>
                </c:pt>
                <c:pt idx="10">
                  <c:v>-24431543.58999126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98F0-0E46-A232-CCD5932099F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15"/>
        <c:overlap val="-20"/>
        <c:axId val="1216534288"/>
        <c:axId val="1217079280"/>
      </c:barChart>
      <c:catAx>
        <c:axId val="1216534288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low"/>
        <c:spPr>
          <a:noFill/>
          <a:ln w="12700" cap="flat" cmpd="sng" algn="ctr">
            <a:solidFill>
              <a:schemeClr val="lt1">
                <a:lumMod val="95000"/>
                <a:alpha val="54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70" b="0" i="0" u="none" strike="noStrike" kern="1200" baseline="0">
                <a:solidFill>
                  <a:schemeClr val="lt1">
                    <a:lumMod val="8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217079280"/>
        <c:crosses val="autoZero"/>
        <c:auto val="1"/>
        <c:lblAlgn val="ctr"/>
        <c:lblOffset val="100"/>
        <c:noMultiLvlLbl val="0"/>
      </c:catAx>
      <c:valAx>
        <c:axId val="1217079280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lt1">
                  <a:lumMod val="95000"/>
                  <a:alpha val="10000"/>
                </a:schemeClr>
              </a:solidFill>
              <a:round/>
            </a:ln>
            <a:effectLst/>
          </c:spPr>
        </c:majorGridlines>
        <c:numFmt formatCode="_(&quot;$&quot;* #,##0_);_(&quot;$&quot;* \(#,##0\);_(&quot;$&quot;* &quot;-&quot;??_);_(@_)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10" b="0" i="0" u="none" strike="noStrike" kern="1200" baseline="0">
                <a:solidFill>
                  <a:schemeClr val="lt1">
                    <a:lumMod val="8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216534288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0.82426225099562223"/>
          <c:y val="0.12599440380186158"/>
          <c:w val="0.1279696429207022"/>
          <c:h val="0.12299834398218354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000" b="0" i="0" u="none" strike="noStrike" kern="1200" baseline="0">
              <a:solidFill>
                <a:schemeClr val="lt1">
                  <a:lumMod val="8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gradFill flip="none" rotWithShape="1">
      <a:gsLst>
        <a:gs pos="0">
          <a:schemeClr val="dk1">
            <a:lumMod val="65000"/>
            <a:lumOff val="35000"/>
          </a:schemeClr>
        </a:gs>
        <a:gs pos="100000">
          <a:schemeClr val="dk1">
            <a:lumMod val="85000"/>
            <a:lumOff val="15000"/>
          </a:schemeClr>
        </a:gs>
      </a:gsLst>
      <a:path path="circle">
        <a:fillToRect l="50000" t="50000" r="50000" b="50000"/>
      </a:path>
      <a:tileRect/>
    </a:gradFill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4869078014765374"/>
          <c:y val="0.30226896548254506"/>
          <c:w val="0.79358311461067366"/>
          <c:h val="0.77738407699037615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coefficients!$E$1</c:f>
              <c:strCache>
                <c:ptCount val="1"/>
                <c:pt idx="0">
                  <c:v>Difference</c:v>
                </c:pt>
              </c:strCache>
            </c:strRef>
          </c:tx>
          <c:spPr>
            <a:solidFill>
              <a:srgbClr val="558ED5"/>
            </a:solidFill>
            <a:ln>
              <a:noFill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/>
            </a:sp3d>
          </c:spPr>
          <c:invertIfNegative val="1"/>
          <c:cat>
            <c:strRef>
              <c:f>coefficients!$B$2:$B$12</c:f>
              <c:strCache>
                <c:ptCount val="11"/>
                <c:pt idx="0">
                  <c:v>Budget</c:v>
                </c:pt>
                <c:pt idx="1">
                  <c:v>Theater count</c:v>
                </c:pt>
                <c:pt idx="2">
                  <c:v>Average Run</c:v>
                </c:pt>
                <c:pt idx="3">
                  <c:v>All Cast Rating</c:v>
                </c:pt>
                <c:pt idx="4">
                  <c:v>Contemporary Fiction</c:v>
                </c:pt>
                <c:pt idx="5">
                  <c:v>Dramatization</c:v>
                </c:pt>
                <c:pt idx="6">
                  <c:v>Fantasy</c:v>
                </c:pt>
                <c:pt idx="7">
                  <c:v>Historical Fiction</c:v>
                </c:pt>
                <c:pt idx="8">
                  <c:v>Kids Fiction</c:v>
                </c:pt>
                <c:pt idx="9">
                  <c:v>Science Fiction</c:v>
                </c:pt>
                <c:pt idx="10">
                  <c:v>Super Hero</c:v>
                </c:pt>
              </c:strCache>
            </c:strRef>
          </c:cat>
          <c:val>
            <c:numRef>
              <c:f>coefficients!$E$2:$E$12</c:f>
              <c:numCache>
                <c:formatCode>_("$"* #,##0_);_("$"* \(#,##0\);_("$"* "-"??_);_(@_)</c:formatCode>
                <c:ptCount val="11"/>
                <c:pt idx="0">
                  <c:v>12590763.882391689</c:v>
                </c:pt>
                <c:pt idx="1">
                  <c:v>-5513911.7266584411</c:v>
                </c:pt>
                <c:pt idx="2">
                  <c:v>-13120006.898857331</c:v>
                </c:pt>
                <c:pt idx="3">
                  <c:v>25389629.321644571</c:v>
                </c:pt>
                <c:pt idx="4">
                  <c:v>-15661930.167987861</c:v>
                </c:pt>
                <c:pt idx="5">
                  <c:v>-10207872.6141582</c:v>
                </c:pt>
                <c:pt idx="6">
                  <c:v>-26182873.307021394</c:v>
                </c:pt>
                <c:pt idx="7">
                  <c:v>-19381494.47858952</c:v>
                </c:pt>
                <c:pt idx="8">
                  <c:v>-18950270.88879744</c:v>
                </c:pt>
                <c:pt idx="9">
                  <c:v>-20031302.44684118</c:v>
                </c:pt>
                <c:pt idx="10">
                  <c:v>-32489089.674652349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AC090"/>
                  </a:solidFill>
                  <a:ln>
                    <a:noFill/>
                  </a:ln>
                  <a:effectLst>
                    <a:outerShdw blurRad="40000" dist="23000" dir="5400000" rotWithShape="0">
                      <a:srgbClr val="000000">
                        <a:alpha val="35000"/>
                      </a:srgbClr>
                    </a:outerShdw>
                  </a:effectLst>
                  <a:scene3d>
                    <a:camera prst="orthographicFront">
                      <a:rot lat="0" lon="0" rev="0"/>
                    </a:camera>
                    <a:lightRig rig="threePt" dir="t">
                      <a:rot lat="0" lon="0" rev="1200000"/>
                    </a:lightRig>
                  </a:scene3d>
                  <a:sp3d>
                    <a:bevelT w="63500" h="25400"/>
                  </a:sp3d>
                </c14:spPr>
              </c14:invertSolidFillFmt>
            </c:ext>
            <c:ext xmlns:c16="http://schemas.microsoft.com/office/drawing/2014/chart" uri="{C3380CC4-5D6E-409C-BE32-E72D297353CC}">
              <c16:uniqueId val="{00000000-2561-D24F-8313-9C1B90D282D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00"/>
        <c:overlap val="-24"/>
        <c:axId val="1175306400"/>
        <c:axId val="1175308048"/>
      </c:barChart>
      <c:catAx>
        <c:axId val="117530640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high"/>
        <c:spPr>
          <a:noFill/>
          <a:ln w="12700" cap="flat" cmpd="sng" algn="ctr">
            <a:solidFill>
              <a:schemeClr val="lt1">
                <a:lumMod val="95000"/>
                <a:alpha val="54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 kern="1200" baseline="0">
                <a:solidFill>
                  <a:schemeClr val="lt1">
                    <a:lumMod val="8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175308048"/>
        <c:crosses val="autoZero"/>
        <c:auto val="1"/>
        <c:lblAlgn val="ctr"/>
        <c:lblOffset val="100"/>
        <c:noMultiLvlLbl val="0"/>
      </c:catAx>
      <c:valAx>
        <c:axId val="117530804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lt1">
                  <a:lumMod val="95000"/>
                  <a:alpha val="10000"/>
                </a:schemeClr>
              </a:solidFill>
              <a:round/>
            </a:ln>
            <a:effectLst/>
          </c:spPr>
        </c:majorGridlines>
        <c:numFmt formatCode="_(&quot;$&quot;* #,##0_);_(&quot;$&quot;* \(#,##0\);_(&quot;$&quot;* &quot;-&quot;??_);_(@_)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 kern="1200" baseline="0">
                <a:solidFill>
                  <a:schemeClr val="lt1">
                    <a:lumMod val="8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175306400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gradFill flip="none" rotWithShape="1">
      <a:gsLst>
        <a:gs pos="0">
          <a:schemeClr val="dk1">
            <a:lumMod val="65000"/>
            <a:lumOff val="35000"/>
          </a:schemeClr>
        </a:gs>
        <a:gs pos="100000">
          <a:schemeClr val="dk1">
            <a:lumMod val="85000"/>
            <a:lumOff val="15000"/>
          </a:schemeClr>
        </a:gs>
      </a:gsLst>
      <a:path path="circle">
        <a:fillToRect l="50000" t="50000" r="50000" b="50000"/>
      </a:path>
      <a:tileRect/>
    </a:gradFill>
    <a:ln>
      <a:noFill/>
    </a:ln>
    <a:effectLst/>
  </c:spPr>
  <c:txPr>
    <a:bodyPr/>
    <a:lstStyle/>
    <a:p>
      <a:pPr>
        <a:defRPr sz="1200" baseline="0"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22">
  <cs:axisTitle>
    <cs:lnRef idx="0"/>
    <cs:fillRef idx="0"/>
    <cs:effectRef idx="0"/>
    <cs:fontRef idx="minor">
      <a:schemeClr val="lt1">
        <a:lumMod val="85000"/>
      </a:schemeClr>
    </cs:fontRef>
    <cs:defRPr sz="900" b="1" kern="1200" cap="all"/>
  </cs:axisTitle>
  <cs:categoryAxis>
    <cs:lnRef idx="0"/>
    <cs:fillRef idx="0"/>
    <cs:effectRef idx="0"/>
    <cs:fontRef idx="minor">
      <a:schemeClr val="lt1">
        <a:lumMod val="85000"/>
      </a:schemeClr>
    </cs:fontRef>
    <cs:spPr>
      <a:ln w="12700" cap="flat" cmpd="sng" algn="ctr">
        <a:solidFill>
          <a:schemeClr val="lt1">
            <a:lumMod val="95000"/>
            <a:alpha val="54000"/>
          </a:schemeClr>
        </a:solidFill>
        <a:round/>
      </a:ln>
    </cs:spPr>
    <cs:defRPr sz="900" kern="1200"/>
  </cs:categoryAxis>
  <cs:chartArea>
    <cs:lnRef idx="0"/>
    <cs:fillRef idx="0"/>
    <cs:effectRef idx="0"/>
    <cs:fontRef idx="minor">
      <a:schemeClr val="dk1"/>
    </cs:fontRef>
    <cs:spPr>
      <a:gradFill flip="none" rotWithShape="1">
        <a:gsLst>
          <a:gs pos="0">
            <a:schemeClr val="dk1">
              <a:lumMod val="65000"/>
              <a:lumOff val="35000"/>
            </a:schemeClr>
          </a:gs>
          <a:gs pos="100000">
            <a:schemeClr val="dk1">
              <a:lumMod val="85000"/>
              <a:lumOff val="15000"/>
            </a:schemeClr>
          </a:gs>
        </a:gsLst>
        <a:path path="circle">
          <a:fillToRect l="50000" t="50000" r="50000" b="50000"/>
        </a:path>
        <a:tileRect/>
      </a:gradFill>
    </cs:spPr>
    <cs:defRPr sz="1000" kern="1200"/>
  </cs:chartArea>
  <cs:dataLabel>
    <cs:lnRef idx="0"/>
    <cs:fillRef idx="0"/>
    <cs:effectRef idx="0"/>
    <cs:fontRef idx="minor">
      <a:schemeClr val="lt1">
        <a:lumMod val="8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3"/>
    <cs:fontRef idx="minor">
      <a:schemeClr val="tx1"/>
    </cs:fontRef>
  </cs:dataPoint>
  <cs:dataPoint3D>
    <cs:lnRef idx="0"/>
    <cs:fillRef idx="3">
      <cs:styleClr val="auto"/>
    </cs:fillRef>
    <cs:effectRef idx="3"/>
    <cs:fontRef idx="minor">
      <a:schemeClr val="tx1"/>
    </cs:fontRef>
  </cs:dataPoint3D>
  <cs:dataPointLine>
    <cs:lnRef idx="0">
      <cs:styleClr val="auto"/>
    </cs:lnRef>
    <cs:fillRef idx="3"/>
    <cs:effectRef idx="3"/>
    <cs:fontRef idx="minor">
      <a:schemeClr val="tx1"/>
    </cs:fontRef>
    <cs:spPr>
      <a:ln w="349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3">
      <cs:styleClr val="auto"/>
    </cs:fillRef>
    <cs:effectRef idx="3"/>
    <cs:fontRef idx="minor">
      <a:schemeClr val="tx1"/>
    </cs:fontRef>
    <cs:spPr>
      <a:ln w="9525">
        <a:solidFill>
          <a:schemeClr val="phClr"/>
        </a:solidFill>
        <a:round/>
      </a:ln>
    </cs:spPr>
  </cs:dataPointMarker>
  <cs:dataPointMarkerLayout size="5"/>
  <cs:dataPointWireframe>
    <cs:lnRef idx="0">
      <cs:styleClr val="auto"/>
    </cs:lnRef>
    <cs:fillRef idx="3"/>
    <cs:effectRef idx="3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lt1">
        <a:lumMod val="85000"/>
      </a:schemeClr>
    </cs:fontRef>
    <cs:spPr>
      <a:ln w="9525">
        <a:solidFill>
          <a:schemeClr val="lt1">
            <a:lumMod val="95000"/>
            <a:alpha val="54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>
        <a:solidFill>
          <a:schemeClr val="lt1">
            <a:lumMod val="95000"/>
            <a:alpha val="54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>
        <a:solidFill>
          <a:schemeClr val="lt1">
            <a:lumMod val="95000"/>
            <a:alpha val="54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lt1">
            <a:lumMod val="9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lt1">
            <a:lumMod val="95000"/>
            <a:alpha val="10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>
        <a:solidFill>
          <a:schemeClr val="lt1">
            <a:lumMod val="95000"/>
            <a:alpha val="5000"/>
          </a:schemeClr>
        </a:solidFill>
      </a:ln>
    </cs:spPr>
  </cs:gridlineMinor>
  <cs:hiLoLine>
    <cs:lnRef idx="0"/>
    <cs:fillRef idx="0"/>
    <cs:effectRef idx="0"/>
    <cs:fontRef idx="minor">
      <a:schemeClr val="tx1"/>
    </cs:fontRef>
    <cs:spPr>
      <a:ln w="9525">
        <a:solidFill>
          <a:schemeClr val="lt1">
            <a:lumMod val="95000"/>
            <a:alpha val="54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tx1"/>
    </cs:fontRef>
    <cs:spPr>
      <a:ln w="9525">
        <a:solidFill>
          <a:schemeClr val="lt1">
            <a:lumMod val="95000"/>
            <a:alpha val="54000"/>
          </a:schemeClr>
        </a:solidFill>
      </a:ln>
    </cs:spPr>
  </cs:leaderLine>
  <cs:legend>
    <cs:lnRef idx="0"/>
    <cs:fillRef idx="0"/>
    <cs:effectRef idx="0"/>
    <cs:fontRef idx="minor">
      <a:schemeClr val="lt1">
        <a:lumMod val="85000"/>
      </a:schemeClr>
    </cs:fontRef>
    <cs:defRPr sz="900" kern="1200"/>
  </cs:legend>
  <cs:plotArea>
    <cs:lnRef idx="0"/>
    <cs:fillRef idx="0"/>
    <cs:effectRef idx="0"/>
    <cs:fontRef idx="minor">
      <a:schemeClr val="tx1"/>
    </cs:fontRef>
  </cs:plotArea>
  <cs:plotArea3D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lt1">
        <a:lumMod val="85000"/>
      </a:schemeClr>
    </cs:fontRef>
    <cs:spPr>
      <a:ln w="12700" cap="flat" cmpd="sng" algn="ctr">
        <a:solidFill>
          <a:schemeClr val="lt1">
            <a:lumMod val="95000"/>
            <a:alpha val="54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lt1"/>
    </cs:fontRef>
    <cs:spPr>
      <a:ln w="9525" cap="flat" cmpd="sng" algn="ctr">
        <a:solidFill>
          <a:schemeClr val="lt1">
            <a:lumMod val="95000"/>
            <a:alpha val="54000"/>
          </a:schemeClr>
        </a:solidFill>
        <a:round/>
      </a:ln>
    </cs:spPr>
  </cs:seriesLine>
  <cs:title>
    <cs:lnRef idx="0"/>
    <cs:fillRef idx="0"/>
    <cs:effectRef idx="0"/>
    <cs:fontRef idx="minor">
      <a:schemeClr val="lt1">
        <a:lumMod val="95000"/>
      </a:schemeClr>
    </cs:fontRef>
    <cs:defRPr sz="1600" b="1" kern="1200" spc="100" baseline="0">
      <a:effectLst>
        <a:outerShdw blurRad="50800" dist="38100" dir="5400000" algn="t" rotWithShape="0">
          <a:prstClr val="black">
            <a:alpha val="40000"/>
          </a:prstClr>
        </a:outerShdw>
      </a:effectLst>
    </cs:defRPr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lt1">
        <a:lumMod val="8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>
        <a:solidFill>
          <a:schemeClr val="lt1">
            <a:lumMod val="95000"/>
            <a:alpha val="54000"/>
          </a:schemeClr>
        </a:solidFill>
      </a:ln>
    </cs:spPr>
  </cs:upBar>
  <cs:valueAxis>
    <cs:lnRef idx="0"/>
    <cs:fillRef idx="0"/>
    <cs:effectRef idx="0"/>
    <cs:fontRef idx="minor">
      <a:schemeClr val="lt1">
        <a:lumMod val="85000"/>
      </a:schemeClr>
    </cs:fontRef>
    <cs:defRPr sz="900" kern="1200"/>
  </cs:valueAxis>
  <cs:wall>
    <cs:lnRef idx="0"/>
    <cs:fillRef idx="0"/>
    <cs:effectRef idx="0"/>
    <cs:fontRef idx="minor">
      <a:schemeClr val="tx1"/>
    </cs:fontRef>
  </cs:wall>
</cs:chartStyle>
</file>

<file path=ppt/charts/style2.xml><?xml version="1.0" encoding="utf-8"?>
<cs:chartStyle xmlns:cs="http://schemas.microsoft.com/office/drawing/2012/chartStyle" xmlns:a="http://schemas.openxmlformats.org/drawingml/2006/main" id="209">
  <cs:axisTitle>
    <cs:lnRef idx="0"/>
    <cs:fillRef idx="0"/>
    <cs:effectRef idx="0"/>
    <cs:fontRef idx="minor">
      <a:schemeClr val="lt1">
        <a:lumMod val="85000"/>
      </a:schemeClr>
    </cs:fontRef>
    <cs:defRPr sz="900" b="1" kern="1200" cap="all"/>
  </cs:axisTitle>
  <cs:categoryAxis>
    <cs:lnRef idx="0"/>
    <cs:fillRef idx="0"/>
    <cs:effectRef idx="0"/>
    <cs:fontRef idx="minor">
      <a:schemeClr val="lt1">
        <a:lumMod val="85000"/>
      </a:schemeClr>
    </cs:fontRef>
    <cs:spPr>
      <a:ln w="12700" cap="flat" cmpd="sng" algn="ctr">
        <a:solidFill>
          <a:schemeClr val="lt1">
            <a:lumMod val="95000"/>
            <a:alpha val="54000"/>
          </a:schemeClr>
        </a:solidFill>
        <a:round/>
      </a:ln>
    </cs:spPr>
    <cs:defRPr sz="900" kern="1200"/>
  </cs:categoryAxis>
  <cs:chartArea>
    <cs:lnRef idx="0"/>
    <cs:fillRef idx="0"/>
    <cs:effectRef idx="0"/>
    <cs:fontRef idx="minor">
      <a:schemeClr val="dk1"/>
    </cs:fontRef>
    <cs:spPr>
      <a:gradFill flip="none" rotWithShape="1">
        <a:gsLst>
          <a:gs pos="0">
            <a:schemeClr val="dk1">
              <a:lumMod val="65000"/>
              <a:lumOff val="35000"/>
            </a:schemeClr>
          </a:gs>
          <a:gs pos="100000">
            <a:schemeClr val="dk1">
              <a:lumMod val="85000"/>
              <a:lumOff val="15000"/>
            </a:schemeClr>
          </a:gs>
        </a:gsLst>
        <a:path path="circle">
          <a:fillToRect l="50000" t="50000" r="50000" b="50000"/>
        </a:path>
        <a:tileRect/>
      </a:gradFill>
    </cs:spPr>
    <cs:defRPr sz="1000" kern="1200"/>
  </cs:chartArea>
  <cs:dataLabel>
    <cs:lnRef idx="0"/>
    <cs:fillRef idx="0"/>
    <cs:effectRef idx="0"/>
    <cs:fontRef idx="minor">
      <a:schemeClr val="lt1">
        <a:lumMod val="8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3"/>
    <cs:fontRef idx="minor">
      <a:schemeClr val="lt1"/>
    </cs:fontRef>
  </cs:dataPoint>
  <cs:dataPoint3D>
    <cs:lnRef idx="0"/>
    <cs:fillRef idx="3">
      <cs:styleClr val="auto"/>
    </cs:fillRef>
    <cs:effectRef idx="3"/>
    <cs:fontRef idx="minor">
      <a:schemeClr val="lt1"/>
    </cs:fontRef>
  </cs:dataPoint3D>
  <cs:dataPointLine>
    <cs:lnRef idx="0">
      <cs:styleClr val="auto"/>
    </cs:lnRef>
    <cs:fillRef idx="3"/>
    <cs:effectRef idx="3"/>
    <cs:fontRef idx="minor">
      <a:schemeClr val="lt1"/>
    </cs:fontRef>
    <cs:spPr>
      <a:ln w="349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3">
      <cs:styleClr val="auto"/>
    </cs:fillRef>
    <cs:effectRef idx="3"/>
    <cs:fontRef idx="minor">
      <a:schemeClr val="lt1"/>
    </cs:fontRef>
    <cs:spPr>
      <a:ln w="9525">
        <a:solidFill>
          <a:schemeClr val="phClr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3"/>
    <cs:fontRef idx="minor">
      <a:schemeClr val="lt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lt1">
        <a:lumMod val="85000"/>
      </a:schemeClr>
    </cs:fontRef>
    <cs:spPr>
      <a:ln w="9525">
        <a:solidFill>
          <a:schemeClr val="lt1">
            <a:lumMod val="95000"/>
            <a:alpha val="54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lt1"/>
    </cs:fontRef>
    <cs:spPr>
      <a:solidFill>
        <a:schemeClr val="dk1">
          <a:lumMod val="75000"/>
          <a:lumOff val="25000"/>
        </a:schemeClr>
      </a:solidFill>
      <a:ln w="9525">
        <a:solidFill>
          <a:schemeClr val="lt1">
            <a:lumMod val="95000"/>
            <a:alpha val="54000"/>
          </a:schemeClr>
        </a:solidFill>
      </a:ln>
    </cs:spPr>
  </cs:downBar>
  <cs:dropLine>
    <cs:lnRef idx="0"/>
    <cs:fillRef idx="0"/>
    <cs:effectRef idx="0"/>
    <cs:fontRef idx="minor">
      <a:schemeClr val="lt1"/>
    </cs:fontRef>
    <cs:spPr>
      <a:ln w="9525">
        <a:solidFill>
          <a:schemeClr val="lt1">
            <a:lumMod val="95000"/>
            <a:alpha val="54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lt1"/>
    </cs:fontRef>
    <cs:spPr>
      <a:ln w="9525" cap="flat" cmpd="sng" algn="ctr">
        <a:solidFill>
          <a:schemeClr val="lt1">
            <a:lumMod val="95000"/>
          </a:schemeClr>
        </a:solidFill>
        <a:round/>
      </a:ln>
    </cs:spPr>
  </cs:errorBar>
  <cs:floor>
    <cs:lnRef idx="0"/>
    <cs:fillRef idx="0"/>
    <cs:effectRef idx="0"/>
    <cs:fontRef idx="minor">
      <a:schemeClr val="lt1"/>
    </cs:fontRef>
  </cs:floor>
  <cs:gridlineMajor>
    <cs:lnRef idx="0"/>
    <cs:fillRef idx="0"/>
    <cs:effectRef idx="0"/>
    <cs:fontRef idx="minor">
      <a:schemeClr val="lt1"/>
    </cs:fontRef>
    <cs:spPr>
      <a:ln w="9525" cap="flat" cmpd="sng" algn="ctr">
        <a:solidFill>
          <a:schemeClr val="lt1">
            <a:lumMod val="95000"/>
            <a:alpha val="10000"/>
          </a:schemeClr>
        </a:solidFill>
        <a:round/>
      </a:ln>
    </cs:spPr>
  </cs:gridlineMajor>
  <cs:gridlineMinor>
    <cs:lnRef idx="0"/>
    <cs:fillRef idx="0"/>
    <cs:effectRef idx="0"/>
    <cs:fontRef idx="minor">
      <a:schemeClr val="lt1"/>
    </cs:fontRef>
    <cs:spPr>
      <a:ln>
        <a:solidFill>
          <a:schemeClr val="lt1">
            <a:lumMod val="95000"/>
            <a:alpha val="5000"/>
          </a:schemeClr>
        </a:solidFill>
      </a:ln>
    </cs:spPr>
  </cs:gridlineMinor>
  <cs:hiLoLine>
    <cs:lnRef idx="0"/>
    <cs:fillRef idx="0"/>
    <cs:effectRef idx="0"/>
    <cs:fontRef idx="minor">
      <a:schemeClr val="lt1"/>
    </cs:fontRef>
    <cs:spPr>
      <a:ln w="9525">
        <a:solidFill>
          <a:schemeClr val="lt1">
            <a:lumMod val="95000"/>
            <a:alpha val="54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lt1"/>
    </cs:fontRef>
    <cs:spPr>
      <a:ln w="9525">
        <a:solidFill>
          <a:schemeClr val="lt1">
            <a:lumMod val="95000"/>
            <a:alpha val="54000"/>
          </a:schemeClr>
        </a:solidFill>
      </a:ln>
    </cs:spPr>
  </cs:leaderLine>
  <cs:legend>
    <cs:lnRef idx="0"/>
    <cs:fillRef idx="0"/>
    <cs:effectRef idx="0"/>
    <cs:fontRef idx="minor">
      <a:schemeClr val="lt1">
        <a:lumMod val="85000"/>
      </a:schemeClr>
    </cs:fontRef>
    <cs:defRPr sz="900" kern="1200"/>
  </cs:legend>
  <cs:plotArea>
    <cs:lnRef idx="0"/>
    <cs:fillRef idx="0"/>
    <cs:effectRef idx="0"/>
    <cs:fontRef idx="minor">
      <a:schemeClr val="lt1"/>
    </cs:fontRef>
  </cs:plotArea>
  <cs:plotArea3D>
    <cs:lnRef idx="0"/>
    <cs:fillRef idx="0"/>
    <cs:effectRef idx="0"/>
    <cs:fontRef idx="minor">
      <a:schemeClr val="lt1"/>
    </cs:fontRef>
  </cs:plotArea3D>
  <cs:seriesAxis>
    <cs:lnRef idx="0"/>
    <cs:fillRef idx="0"/>
    <cs:effectRef idx="0"/>
    <cs:fontRef idx="minor">
      <a:schemeClr val="lt1">
        <a:lumMod val="85000"/>
      </a:schemeClr>
    </cs:fontRef>
    <cs:spPr>
      <a:ln w="12700" cap="flat" cmpd="sng" algn="ctr">
        <a:solidFill>
          <a:schemeClr val="lt1">
            <a:lumMod val="95000"/>
            <a:alpha val="54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lt1"/>
    </cs:fontRef>
    <cs:spPr>
      <a:ln w="9525" cap="flat" cmpd="sng" algn="ctr">
        <a:solidFill>
          <a:schemeClr val="lt1">
            <a:lumMod val="95000"/>
            <a:alpha val="54000"/>
          </a:schemeClr>
        </a:solidFill>
        <a:round/>
      </a:ln>
    </cs:spPr>
  </cs:seriesLine>
  <cs:title>
    <cs:lnRef idx="0"/>
    <cs:fillRef idx="0"/>
    <cs:effectRef idx="0"/>
    <cs:fontRef idx="minor">
      <a:schemeClr val="lt1">
        <a:lumMod val="95000"/>
      </a:schemeClr>
    </cs:fontRef>
    <cs:defRPr sz="1600" b="1" kern="1200" spc="100" baseline="0">
      <a:effectLst>
        <a:outerShdw blurRad="50800" dist="38100" dir="5400000" algn="t" rotWithShape="0">
          <a:prstClr val="black">
            <a:alpha val="40000"/>
          </a:prstClr>
        </a:outerShdw>
      </a:effectLst>
    </cs:defRPr>
  </cs:title>
  <cs:trendline>
    <cs:lnRef idx="0">
      <cs:styleClr val="auto"/>
    </cs:lnRef>
    <cs:fillRef idx="0"/>
    <cs:effectRef idx="0"/>
    <cs:fontRef idx="minor">
      <a:schemeClr val="lt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lt1">
        <a:lumMod val="85000"/>
      </a:schemeClr>
    </cs:fontRef>
    <cs:defRPr sz="900" kern="1200"/>
  </cs:trendlineLabel>
  <cs:upBar>
    <cs:lnRef idx="0"/>
    <cs:fillRef idx="0"/>
    <cs:effectRef idx="0"/>
    <cs:fontRef idx="minor">
      <a:schemeClr val="lt1"/>
    </cs:fontRef>
    <cs:spPr>
      <a:solidFill>
        <a:schemeClr val="lt1"/>
      </a:solidFill>
      <a:ln w="9525">
        <a:solidFill>
          <a:schemeClr val="lt1">
            <a:lumMod val="95000"/>
            <a:alpha val="54000"/>
          </a:schemeClr>
        </a:solidFill>
      </a:ln>
    </cs:spPr>
  </cs:upBar>
  <cs:valueAxis>
    <cs:lnRef idx="0"/>
    <cs:fillRef idx="0"/>
    <cs:effectRef idx="0"/>
    <cs:fontRef idx="minor">
      <a:schemeClr val="lt1">
        <a:lumMod val="85000"/>
      </a:schemeClr>
    </cs:fontRef>
    <cs:defRPr sz="900" kern="1200"/>
  </cs:valueAxis>
  <cs:wall>
    <cs:lnRef idx="0"/>
    <cs:fillRef idx="0"/>
    <cs:effectRef idx="0"/>
    <cs:fontRef idx="minor">
      <a:schemeClr val="lt1"/>
    </cs:fontRef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BBC2E9-4CD9-994F-BCE9-944FD968F56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826A484-B678-6242-8090-D05B51A5CD8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5C1D4F-EC2B-7847-A9AF-B5E48D108E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DFFF75-C116-B845-B697-7A7FB7BBA07A}" type="datetimeFigureOut">
              <a:rPr lang="en-US" smtClean="0"/>
              <a:t>2/22/22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64FB0F-94FB-474B-898E-C7ACA30B6C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CED13-41B0-2A44-B85A-5F862F0412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B1B606-5049-F84F-829C-404E3DB34F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54942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40454B-3517-CC4A-BA33-477F1EA994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922DA2-6EAA-BB43-AC68-7CA7DA14C6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F99FBC-C607-C744-B2DD-AD465B5BFA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DFFF75-C116-B845-B697-7A7FB7BBA07A}" type="datetimeFigureOut">
              <a:rPr lang="en-US" smtClean="0"/>
              <a:t>2/22/22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A5AE62-7AB0-C74E-B887-33D0727387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6F36D2-E41D-3243-AD21-A45FC022B0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B1B606-5049-F84F-829C-404E3DB34F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54263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46D3DB-6E2C-CE44-8096-CF38228F31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E59C0F2-32C4-A545-817B-5A167DA119C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3D566E7-CBB3-6B49-88F7-AEA318F79E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DFFF75-C116-B845-B697-7A7FB7BBA07A}" type="datetimeFigureOut">
              <a:rPr lang="en-US" smtClean="0"/>
              <a:t>2/22/22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C68FA8-5B0E-0440-B24C-1B95FDABD6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ACED1E-664F-454E-81BB-D08A614BD1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B1B606-5049-F84F-829C-404E3DB34F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65821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93C4ED-3005-B545-BBC3-D4BB36D41A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A2E843-BE64-1144-B59C-674171D33EF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731F244-439E-FA46-AEC1-8FDA60B2D50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DBD6874-9BC7-A740-BCA4-481290EB4B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DFFF75-C116-B845-B697-7A7FB7BBA07A}" type="datetimeFigureOut">
              <a:rPr lang="en-US" smtClean="0"/>
              <a:t>2/22/22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99CA5E8-DB55-B247-A5E1-C54CFE80D9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31D0449-CD5D-5D4D-9B77-DF2DDD5B48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B1B606-5049-F84F-829C-404E3DB34F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37196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18DE3E-20EA-C64D-990F-D22ACAC9A4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5D3D384-8AAD-D74E-8324-81497D1F04A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0B1DD90-C269-1C4F-AFB7-5537FCC136F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041656D-BD12-2D4B-8493-162B4790518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8465B9F-2550-8041-8CF0-B9D563D7BD8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36DDF27-8B57-0240-8C6B-439094E36C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DFFF75-C116-B845-B697-7A7FB7BBA07A}" type="datetimeFigureOut">
              <a:rPr lang="en-US" smtClean="0"/>
              <a:t>2/22/22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226D94E-5A4E-584A-8CC2-2A76084CBD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5331FCD-7A49-4146-B809-E628C8EF57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B1B606-5049-F84F-829C-404E3DB34F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93009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213338-91F0-8E4E-A040-688F41C77A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5042D12-62F9-434F-A435-DF3856A4E2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DFFF75-C116-B845-B697-7A7FB7BBA07A}" type="datetimeFigureOut">
              <a:rPr lang="en-US" smtClean="0"/>
              <a:t>2/22/22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0DE1ADB-0514-4E46-9A69-DE7ED7ED2B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5741310-3F0F-F64F-84EA-09207B17E2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B1B606-5049-F84F-829C-404E3DB34F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37217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5C9FE03-45DB-2940-AAEF-EB68F536AF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DFFF75-C116-B845-B697-7A7FB7BBA07A}" type="datetimeFigureOut">
              <a:rPr lang="en-US" smtClean="0"/>
              <a:t>2/22/22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31CF4D4-FCA8-CE40-AC7B-569A55027A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70A1CDB-CAEF-364E-B7A3-9D3C17D6A4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B1B606-5049-F84F-829C-404E3DB34F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77962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86FCF9-DCB7-A94D-85EC-DBB4231E0F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4D7E98-6CC7-0F46-B9F6-2A13F49331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1C9B36E-9E76-C348-9703-872456EA89A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8F01C61-CBCF-0D42-9072-1774559E37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DFFF75-C116-B845-B697-7A7FB7BBA07A}" type="datetimeFigureOut">
              <a:rPr lang="en-US" smtClean="0"/>
              <a:t>2/22/22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3A01A1F-B02A-D747-8894-D90CE5A169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AA13FEC-9718-B443-B84A-9CD3182A16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B1B606-5049-F84F-829C-404E3DB34F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88336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E2328E-78D4-7B4D-80C6-0ECB4BFC90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881AAF9-D7A3-9442-AAE8-576FEBDFEBF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4C4A161-0C8A-6240-B580-874D87101A2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F8BAE42-F016-9149-8832-6232836700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DFFF75-C116-B845-B697-7A7FB7BBA07A}" type="datetimeFigureOut">
              <a:rPr lang="en-US" smtClean="0"/>
              <a:t>2/22/22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A732BCD-7DC9-944F-A467-AC693A3F64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218CD7E-F91D-9F42-8796-E8E04A4A73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B1B606-5049-F84F-829C-404E3DB34F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08450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7EF7D6-3644-514F-A33C-B87A649EB4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38E7024-6FC4-534A-A81D-6E778BFE7CF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B5C6A6-B01E-0644-99E4-CD3A2BEE0C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DFFF75-C116-B845-B697-7A7FB7BBA07A}" type="datetimeFigureOut">
              <a:rPr lang="en-US" smtClean="0"/>
              <a:t>2/22/22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41B7F0-B6EB-A04F-8601-8FD9226386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22C891-FE95-454A-80B6-F8B2D25EEF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B1B606-5049-F84F-829C-404E3DB34F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6502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CD5F457-5769-FB4A-B9B5-FBCC480D961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6692526-0CFE-7B43-A25C-DFB06A2C8BC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188125-88DB-BD4B-86BD-2AC3FF4D25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DFFF75-C116-B845-B697-7A7FB7BBA07A}" type="datetimeFigureOut">
              <a:rPr lang="en-US" smtClean="0"/>
              <a:t>2/22/22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F958AF-C48E-BC44-8FB8-49762090FA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E6C703-3C98-6A48-8A89-064BF7D606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B1B606-5049-F84F-829C-404E3DB34F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80787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F946962-5DF5-3843-AEFD-D3E79D0DE2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116132B-0199-FC4E-BE68-4679A63363D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A60D6C-388A-A242-947C-CDF62DD5983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BDFFF75-C116-B845-B697-7A7FB7BBA07A}" type="datetimeFigureOut">
              <a:rPr lang="en-US" smtClean="0"/>
              <a:t>2/22/22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9E37EA-C342-164A-A7E6-AD6DD8BA998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4F4177-D6E5-8942-A608-173DAEF2303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7B1B606-5049-F84F-829C-404E3DB34F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50215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E188EA88-C806-5A48-B3F2-364302653E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103437"/>
            <a:ext cx="10515600" cy="1325563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>
                <a:solidFill>
                  <a:schemeClr val="bg2">
                    <a:lumMod val="50000"/>
                  </a:schemeClr>
                </a:solidFill>
              </a:rPr>
              <a:t>How To Invest In Films</a:t>
            </a:r>
            <a:br>
              <a:rPr lang="en-US" dirty="0">
                <a:solidFill>
                  <a:schemeClr val="bg2">
                    <a:lumMod val="50000"/>
                  </a:schemeClr>
                </a:solidFill>
              </a:rPr>
            </a:br>
            <a:r>
              <a:rPr lang="en-US" sz="1800" dirty="0">
                <a:solidFill>
                  <a:schemeClr val="bg2">
                    <a:lumMod val="50000"/>
                  </a:schemeClr>
                </a:solidFill>
              </a:rPr>
              <a:t>February 23, 2022</a:t>
            </a:r>
            <a:br>
              <a:rPr lang="en-US" dirty="0">
                <a:solidFill>
                  <a:schemeClr val="bg2">
                    <a:lumMod val="50000"/>
                  </a:schemeClr>
                </a:solidFill>
              </a:rPr>
            </a:br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81DA0A1-00D9-BC4B-9F02-31CE8F0DD482}"/>
              </a:ext>
            </a:extLst>
          </p:cNvPr>
          <p:cNvSpPr/>
          <p:nvPr/>
        </p:nvSpPr>
        <p:spPr>
          <a:xfrm>
            <a:off x="3037808" y="4193458"/>
            <a:ext cx="602402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An Analysis of films released in the US between 2015 and 2019</a:t>
            </a:r>
          </a:p>
        </p:txBody>
      </p:sp>
    </p:spTree>
    <p:extLst>
      <p:ext uri="{BB962C8B-B14F-4D97-AF65-F5344CB8AC3E}">
        <p14:creationId xmlns:p14="http://schemas.microsoft.com/office/powerpoint/2010/main" val="174148258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74CD9F-2174-7D48-BC3F-213CE9F3F5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0780" y="173382"/>
            <a:ext cx="10752882" cy="1009651"/>
          </a:xfrm>
        </p:spPr>
        <p:txBody>
          <a:bodyPr>
            <a:normAutofit/>
          </a:bodyPr>
          <a:lstStyle/>
          <a:p>
            <a:r>
              <a:rPr lang="en-US" sz="18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We recommend your fund invest in more, lower budget films (under $75 Million) than a few high budget films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EAD237-4D7B-B34D-87CF-E306080147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13703" y="1032563"/>
            <a:ext cx="8722489" cy="888834"/>
          </a:xfrm>
        </p:spPr>
        <p:txBody>
          <a:bodyPr>
            <a:normAutofit lnSpcReduction="10000"/>
          </a:bodyPr>
          <a:lstStyle/>
          <a:p>
            <a:r>
              <a:rPr lang="en-US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There is a great deal of variation and interaction among film characteristics</a:t>
            </a:r>
          </a:p>
          <a:p>
            <a:r>
              <a:rPr lang="en-US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Only 46% of the difference in film revenues can be explained by the characteristics we examined.</a:t>
            </a:r>
          </a:p>
          <a:p>
            <a:r>
              <a:rPr lang="en-US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The average error in any revenue prediction is around $29 Million</a:t>
            </a:r>
          </a:p>
          <a:p>
            <a:endParaRPr lang="en-US" sz="14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pic>
        <p:nvPicPr>
          <p:cNvPr id="6" name="Picture 5" descr="Chart, scatter chart&#10;&#10;Description automatically generated">
            <a:extLst>
              <a:ext uri="{FF2B5EF4-FFF2-40B4-BE49-F238E27FC236}">
                <a16:creationId xmlns:a16="http://schemas.microsoft.com/office/drawing/2014/main" id="{00FA1619-94AB-C64D-84E9-33A5BBC382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9606" y="2916692"/>
            <a:ext cx="11172788" cy="3518832"/>
          </a:xfrm>
          <a:prstGeom prst="rect">
            <a:avLst/>
          </a:prstGeom>
        </p:spPr>
      </p:pic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24B3776A-F3CA-2A49-82EE-49ACE30AA60E}"/>
              </a:ext>
            </a:extLst>
          </p:cNvPr>
          <p:cNvSpPr txBox="1">
            <a:spLocks/>
          </p:cNvSpPr>
          <p:nvPr/>
        </p:nvSpPr>
        <p:spPr>
          <a:xfrm>
            <a:off x="1898248" y="2433258"/>
            <a:ext cx="8542118" cy="3473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Illustrative Plots of Selected Film Characteristics vs. Revenues for Approximately 1,100 films releases 2015 - 2019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14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6995221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A6CBF9-7BA8-9A4B-BE27-F9830404C6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453582"/>
          </a:xfrm>
        </p:spPr>
        <p:txBody>
          <a:bodyPr>
            <a:normAutofit/>
          </a:bodyPr>
          <a:lstStyle/>
          <a:p>
            <a:r>
              <a:rPr lang="en-US" sz="18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Budget does not guarantee success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8372A5-9F54-C340-8D5F-676E7C1B902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37143" y="1301391"/>
            <a:ext cx="8715737" cy="347320"/>
          </a:xfrm>
        </p:spPr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en-US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Relative Impact of Various Film Characteristics on Revenue for Films with Budgets Greater Than $75M vs. Less Than $75M</a:t>
            </a:r>
          </a:p>
          <a:p>
            <a:pPr marL="0" indent="0">
              <a:buNone/>
            </a:pPr>
            <a:endParaRPr lang="en-US" sz="14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graphicFrame>
        <p:nvGraphicFramePr>
          <p:cNvPr id="4" name="Chart 3">
            <a:extLst>
              <a:ext uri="{FF2B5EF4-FFF2-40B4-BE49-F238E27FC236}">
                <a16:creationId xmlns:a16="http://schemas.microsoft.com/office/drawing/2014/main" id="{B14AA069-673F-3A4E-9AE1-170D7FC23632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946116400"/>
              </p:ext>
            </p:extLst>
          </p:nvPr>
        </p:nvGraphicFramePr>
        <p:xfrm>
          <a:off x="838200" y="1648711"/>
          <a:ext cx="10515600" cy="484416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16748600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5583A9-E10D-194B-A65F-E4E782FA285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80932" y="467906"/>
            <a:ext cx="9144000" cy="519220"/>
          </a:xfrm>
        </p:spPr>
        <p:txBody>
          <a:bodyPr>
            <a:noAutofit/>
          </a:bodyPr>
          <a:lstStyle/>
          <a:p>
            <a:pPr algn="l"/>
            <a:r>
              <a:rPr lang="en-US" sz="1600" dirty="0"/>
              <a:t>The only film characteristic that drives higher revenue when budgets are higher than $75 Million as compared to lower is the cast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DC4BBA1-8648-C647-9783-387822DC9CD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1612159"/>
            <a:ext cx="9144000" cy="240887"/>
          </a:xfrm>
        </p:spPr>
        <p:txBody>
          <a:bodyPr>
            <a:noAutofit/>
          </a:bodyPr>
          <a:lstStyle/>
          <a:p>
            <a:r>
              <a:rPr lang="en-US" sz="1200" dirty="0"/>
              <a:t>Relative Difference In Revenue Impact of various Film Characteristics with Budgets Above $75M vs. Under $75M</a:t>
            </a:r>
          </a:p>
        </p:txBody>
      </p:sp>
      <p:graphicFrame>
        <p:nvGraphicFramePr>
          <p:cNvPr id="6" name="Chart 5">
            <a:extLst>
              <a:ext uri="{FF2B5EF4-FFF2-40B4-BE49-F238E27FC236}">
                <a16:creationId xmlns:a16="http://schemas.microsoft.com/office/drawing/2014/main" id="{91E75D93-1BF8-D64D-AF21-5AF02CA8BC74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990271611"/>
              </p:ext>
            </p:extLst>
          </p:nvPr>
        </p:nvGraphicFramePr>
        <p:xfrm>
          <a:off x="884902" y="2025568"/>
          <a:ext cx="10422196" cy="46067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75567025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701</TotalTime>
  <Words>174</Words>
  <Application>Microsoft Macintosh PowerPoint</Application>
  <PresentationFormat>Widescreen</PresentationFormat>
  <Paragraphs>11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Calibri Light</vt:lpstr>
      <vt:lpstr>Office Theme</vt:lpstr>
      <vt:lpstr>How To Invest In Films February 23, 2022 </vt:lpstr>
      <vt:lpstr>We recommend your fund invest in more, lower budget films (under $75 Million) than a few high budget films</vt:lpstr>
      <vt:lpstr>Budget does not guarantee success</vt:lpstr>
      <vt:lpstr>The only film characteristic that drives higher revenue when budgets are higher than $75 Million as compared to lower is the cast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Alex Ezazi</dc:creator>
  <cp:lastModifiedBy>Alex Ezazi</cp:lastModifiedBy>
  <cp:revision>4</cp:revision>
  <dcterms:created xsi:type="dcterms:W3CDTF">2022-02-22T16:24:24Z</dcterms:created>
  <dcterms:modified xsi:type="dcterms:W3CDTF">2022-02-23T04:07:23Z</dcterms:modified>
</cp:coreProperties>
</file>